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트리와 이진 탐색 트리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계층을 표현하고, 비교할 때마다 한쪽으로 내려갑니다.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트리의 언어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2468880" y="1463040"/>
            <a:ext cx="1371600" cy="1005840"/>
          </a:xfrm>
          <a:prstGeom prst="line">
            <a:avLst/>
          </a:prstGeom>
          <a:noFill/>
          <a:ln w="25400">
            <a:solidFill>
              <a:srgbClr val="5B64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1463040"/>
            <a:ext cx="1371600" cy="1005840"/>
          </a:xfrm>
          <a:prstGeom prst="line">
            <a:avLst/>
          </a:prstGeom>
          <a:noFill/>
          <a:ln w="25400">
            <a:solidFill>
              <a:srgbClr val="5B64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737360" y="2468880"/>
            <a:ext cx="731520" cy="1005840"/>
          </a:xfrm>
          <a:prstGeom prst="line">
            <a:avLst/>
          </a:prstGeom>
          <a:noFill/>
          <a:ln w="25400">
            <a:solidFill>
              <a:srgbClr val="5B64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2468880"/>
            <a:ext cx="731520" cy="1005840"/>
          </a:xfrm>
          <a:prstGeom prst="line">
            <a:avLst/>
          </a:prstGeom>
          <a:noFill/>
          <a:ln w="25400">
            <a:solidFill>
              <a:srgbClr val="5B64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663440" y="2468880"/>
            <a:ext cx="548640" cy="1005840"/>
          </a:xfrm>
          <a:prstGeom prst="line">
            <a:avLst/>
          </a:prstGeom>
          <a:noFill/>
          <a:ln w="25400">
            <a:solidFill>
              <a:srgbClr val="5B64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2468880"/>
            <a:ext cx="914400" cy="1005840"/>
          </a:xfrm>
          <a:prstGeom prst="line">
            <a:avLst/>
          </a:prstGeom>
          <a:noFill/>
          <a:ln w="25400">
            <a:solidFill>
              <a:srgbClr val="5B64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20040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21945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26080" y="320040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66160" y="11887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89120" y="320040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21945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52160" y="320040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노드는 값을 담는 자리, 간선은 부모와 자식을 잇는 선입니다.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루트: 맨 위의 50 / 리프: 자식이 없는 20, 40, 60, 80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30의 자식은 20과 40, 30은 20과 40의 부모입니다.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높이: 루트에서 가장 먼 노드까지 간선 수 (이 트리는 2)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이진 트리와 이진 탐색 트리는 다릅니다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이진 트리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노드는 자식을 최대 2개 가진다.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값의 순서에 대한 규칙은 없습니다.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이진 탐색 트리 (BST)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부분 트리의 모든 값 &lt; 현재 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부분 트리의 모든 값 &gt; 현재 값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BST는 이진 트리이지만, 모든 이진 트리가 BST는 아닙니다.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수업 코드는 같은 키를 다시 넣으면 무시합니다 (중복 없음).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BST 규칙으로 값의 자리 정하기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1945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왼쪽 부분 트리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오른쪽 부분 트리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 (루트)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20, 30, 40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60, 70, 80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모두 50보다 작음 / 큼 → 성립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 &lt; 30 &lt; 40 → 성립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 &lt; 70 &lt; 80 → 성립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규칙은 노드마다 적용됩니다. 루트 아래 전체 값을 기준으로 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규칙 덕분에 탐색할 때 한쪽 부분 트리를 통째로 제외할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BST 삽입 과정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순서: 50, 30, 70, 20, 40, 60, 80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38404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순서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입력 키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비교 경로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트리가 비어 있음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루트가 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50과 비교: 30 &lt; 50 → 왼쪽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50의 왼쪽 자식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50과 비교: 70 &gt; 50 → 오른쪽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50의 오른쪽 자식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 → 30 (왼쪽) → 20 &lt; 30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30의 왼쪽 자식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 → 30 (왼쪽) → 40 &gt; 30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30의 오른쪽 자식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 → 70 (오른쪽) → 60 &lt; 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70의 왼쪽 자식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 → 70 (오른쪽) → 80 &gt; 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70의 오른쪽 자식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BST 탐색 과정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920240"/>
                <a:gridCol w="201168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비교한 노드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다음 행동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 &gt; 50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왼쪽 제외, 오른쪽 70으로 이동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 &lt; 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오른쪽 제외, 왼쪽 60으로 이동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 == 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탐색 성공 (비교 3회: 50 → 70 → 60)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50, 70, 60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65 &gt; 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60의 오른쪽이 없음 (None) → 실패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비교할 때마다 한쪽 부분 트리를 버립니다. 그래서 탐색은 루트에서 리프까지 한 경로만 따라갑니다.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 코드 읽기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356616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43525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Node: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key):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self.key = 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self.left = self.right =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insert(t, key):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Node(key)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key &lt; t.key: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t.left = insert(t.left, 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key &gt; t.key: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t.right = insert(t.right, 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28016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입력값: key, 현재 노드: 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자리(None)에 도달하면 새 노드를 만들어 반환합니다.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대입이 중요: 반환된 노드를 부모의 left/right에 연결합니다.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키(elif 없음)면 아무것도 하지 않아 중복을 무시합니다.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시간: 한 경로만 따라가므로 O(h)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코드 읽기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310896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43525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search(t, key):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 is not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key == t.key: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key &lt; t.key: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 = t.left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 = t.right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28016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입력값: 찾을 값 key, 시작 노드 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t는 후보 노드입니다. 비교 결과에 따라 t를 한쪽 자식으로 바꿉니다.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None에 도달하면 없는 값이므로 False를 반환합니다.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재귀가 아니라 반복문이라 호출 스택이 쌓이지 않습니다.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시간: 탐색 경로 길이 O(h)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전위·중위·후위 순회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트리를 방문하는 순서만 다릅니다 (모든 노드 방문)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순회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방문 순서 규칙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예제 결과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전위 (preorder)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→ 왼쪽 → 오른쪽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50, 30, 20, 40, 70, 60, 80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중위 (inorder)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왼쪽 → 현재 → 오른쪽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20, 30, 40, 50, 60, 70, 80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후위 (postorder)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왼쪽 → 오른쪽 → 현재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20, 40, 30, 60, 80, 70, 50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탐색은 한 경로만 보지만, 순회는 모든 노드를 한 번씩 방문합니다.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중위 순회만 BST에서 오름차순이 되는 이유를 다음 슬라이드에서 봅니다.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중위 순회 코드 읽기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219456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43525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inorder(t, out):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is not None: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inorder(t.left, out)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out.append(t.key)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inorder(t.right, out)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입력값: 트리 t, 결과를 담을 리스트 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호출 → 현재 키 기록 → 오른쪽 호출 순서가 핵심입니다.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키보다 작은 값은 왼쪽 호출에서 먼저 기록됩니다.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[20, 30, 40, 50, 60, 70, 80]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시간: 모든 노드를 한 번씩 방문하므로 O(n)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코드 1/2: 노드, 삽입, 탐색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93192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88720"/>
            <a:ext cx="801014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Node: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key):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self.key = 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self.left = self.right =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insert(t, key):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is None: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Node(key)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key &lt; t.key: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t.left = insert(t.left, key)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key &gt; t.key: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t.right = insert(t.right, key)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search(t, key):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 is not None: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key == t.key: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key &lt; t.key: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 = t.left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 = t.right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코드 2/2: 중위 순회와 실행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88720"/>
            <a:ext cx="801014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inorder(t, out):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is not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inorder(t.left, out)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out.append(t.key)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inorder(t.right, out)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[50, 30, 70, 20, 40, 60, 80]: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 = insert(root, 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print(search(root, 60))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inorder(root, out)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print(out)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 결과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[20, 30, 40, 50, 60, 70, 80]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순서가 모양을 바꾼다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10, 20, 30, 40을 순서대로 넣으면?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164592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45920"/>
            <a:ext cx="3621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└─ 40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55448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값이 오른쪽으로만 붙습니다 (편향 트리).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40을 찾으려면 4번 비교합니다.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BST는 입력 순서에 따라 자동으로 균형을 잡지 않습니다.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균형을 자동으로 맞추는 트리(AVL, 레드-블랙)는 발표 주제로 조사할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복잡도 비교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n: 노드 수 · h: 트리 높이 · 한 번의 비교 비용은 일정하다고 봅니다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균형 잡힌 BST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편향 BST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탐색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O(log n)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삽입 1회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O(log n)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중위 순회 전체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탐색과 삽입은 한 경로의 길이 O(h)이고, 균형이면 h ≈ log n입니다.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편향이면 높이가 n에 비례하므로 O(n)입니다.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순회는 높이와 무관하게 모든 노드를 봐야 하므로 O(n)입니다.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사례와 발표 과제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사례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트리: 폴더·조직도 같은 계층 관계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BST: 정렬 관계를 유지하는 키 목록의 조회·등록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중위 순회: 점수나 상품 키를 오름차순으로 출력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과제 (15–20분)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과정을 보여주는 시각 자료 1개 이상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복잡도와 데이터 크기의 관계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방법과의 비교와 선택 기준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57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마지막에 "이 방법을 언제 사용하면 좋은가?"를 한 문장으로 정리합니다.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문제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위 BST(50, 30, 70, 20, 40, 60, 80)에서 65를 찾을 때 비교하는 노드는?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BST의 탐색은 항상 O(log n)인가?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정답과 판단 기준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번호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 → 70 → 60, 탐색 실패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60의 오른쪽이 None이므로 65는 없음 (비교 3회)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아니다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편향되면 높이가 n에 가까워져 탐색이 O(n)이 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정답보다 판단 기준이 중요합니다. 탐색 경로의 길이가 곧 높이라는 점을 설명해 보세요.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트리">
  <a:themeElements>
    <a:clrScheme name="트리">
      <a:dk1>
        <a:srgbClr val="1C2230"/>
      </a:dk1>
      <a:lt1>
        <a:srgbClr val="FFFFFF"/>
      </a:lt1>
      <a:dk2>
        <a:srgbClr val="1E2761"/>
      </a:dk2>
      <a:lt2>
        <a:srgbClr val="EEF2FA"/>
      </a:lt2>
      <a:accent1>
        <a:srgbClr val="1E2761"/>
      </a:accent1>
      <a:accent2>
        <a:srgbClr val="E0572F"/>
      </a:accent2>
      <a:accent3>
        <a:srgbClr val="028090"/>
      </a:accent3>
      <a:accent4>
        <a:srgbClr val="5B6476"/>
      </a:accent4>
      <a:accent5>
        <a:srgbClr val="7A8BB8"/>
      </a:accent5>
      <a:accent6>
        <a:srgbClr val="C9A227"/>
      </a:accent6>
      <a:hlink>
        <a:srgbClr val="2D5BD1"/>
      </a:hlink>
      <a:folHlink>
        <a:srgbClr val="6B4FA0"/>
      </a:folHlink>
    </a:clrScheme>
    <a:fontScheme name="트리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트리</dc:title>
  <dc:subject>PptxGenJS Presentation</dc:subject>
  <dc:creator>PptxGenJS</dc:creator>
  <cp:lastModifiedBy>PptxGenJS</cp:lastModifiedBy>
  <cp:revision>1</cp:revision>
  <dcterms:created xsi:type="dcterms:W3CDTF">2026-10-26T08:24:12Z</dcterms:created>
  <dcterms:modified xsi:type="dcterms:W3CDTF">2026-10-26T08:24:12Z</dcterms:modified>
</cp:coreProperties>
</file>