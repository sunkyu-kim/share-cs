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37160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정렬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37744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비교·분할 정렬 알고리즘의 코드와 추적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10896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버블, 선택, 삽입, 병합, 퀵, 힙, 기수 정렬을 다룹니다.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정렬 알고리즘의 기준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4023360" cy="1554480"/>
          </a:xfrm>
          <a:prstGeom prst="roundRect">
            <a:avLst>
              <a:gd name="adj" fmla="val 4706"/>
            </a:avLst>
          </a:prstGeom>
          <a:solidFill>
            <a:srgbClr val="EEF2FA"/>
          </a:solidFill>
          <a:ln w="12700">
            <a:solidFill>
              <a:srgbClr val="EEF2F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3258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비교 기반 정렬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737360"/>
            <a:ext cx="3657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23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두 원소를 비교해서 순서를 정함. 기수 정렬을 제외한 5가지가 여기에 해당합니다.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663440" y="1188720"/>
            <a:ext cx="4023360" cy="1554480"/>
          </a:xfrm>
          <a:prstGeom prst="roundRect">
            <a:avLst>
              <a:gd name="adj" fmla="val 4706"/>
            </a:avLst>
          </a:prstGeom>
          <a:solidFill>
            <a:srgbClr val="EEF2FA"/>
          </a:solidFill>
          <a:ln w="12700">
            <a:solidFill>
              <a:srgbClr val="EEF2F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846320" y="13258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제자리(in-place)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4846320" y="1737360"/>
            <a:ext cx="3657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23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추가 공간을 거의 쓰지 않고 같은 배열 안에서 정렬. 병합 정렬은 보통 추가 공간이 필요합니다.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2926080"/>
            <a:ext cx="4023360" cy="1554480"/>
          </a:xfrm>
          <a:prstGeom prst="roundRect">
            <a:avLst>
              <a:gd name="adj" fmla="val 4706"/>
            </a:avLst>
          </a:prstGeom>
          <a:solidFill>
            <a:srgbClr val="E3F3F5"/>
          </a:solidFill>
          <a:ln w="12700">
            <a:solidFill>
              <a:srgbClr val="E3F3F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" y="30632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809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안정 정렬(stable)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3474720"/>
            <a:ext cx="3657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23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같은 키 값을 가진 원소의 상대 순서를 유지. 예: 성적이 같은 학생의 이름 순서가 유지됨.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663440" y="2926080"/>
            <a:ext cx="4023360" cy="1554480"/>
          </a:xfrm>
          <a:prstGeom prst="roundRect">
            <a:avLst>
              <a:gd name="adj" fmla="val 4706"/>
            </a:avLst>
          </a:prstGeom>
          <a:solidFill>
            <a:srgbClr val="FDF0EA"/>
          </a:solidFill>
          <a:ln w="12700">
            <a:solidFill>
              <a:srgbClr val="FDF0E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846320" y="30632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0572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시간 복잡도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4846320" y="3474720"/>
            <a:ext cx="3657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23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n은 원소 수. O(n²)은 느린 편, O(n log n)은 큰 n에서 빠른 편. 최선, 평균, 최악을 따로 봅니다.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버블 정렬: 인접한 값을 교환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4572000" cy="3566160"/>
          </a:xfrm>
          <a:prstGeom prst="rect">
            <a:avLst/>
          </a:prstGeom>
          <a:solidFill>
            <a:srgbClr val="F3F5F9"/>
          </a:solidFill>
          <a:ln w="9525">
            <a:solidFill>
              <a:srgbClr val="D9DCE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66928" y="1280160"/>
            <a:ext cx="4352544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C22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bubble(a):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C22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end in range(len(a)-1, 0, -1):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C22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swapped = False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C22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for j in range(end):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C22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if a[j] &gt; a[j+1]: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C22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a[j], a[j+1] = a[j+1], a[j]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C22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swapped = True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C22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not swapped: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C22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break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C22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a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303520" y="1280160"/>
            <a:ext cx="338328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C223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한 바퀴 돌면 가장 큰 값이 오른쪽 끝으로 올라갑니다.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C223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swapped로 교환이 없으면 이미 정렬됨 → 조기 종료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C223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최선 O(n) (이미 정렬된 경우), 평균·최악 O(n²)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C223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같은 값은 교환하지 않으므로 안정 정렬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선택 정렬: 최솟값을 골라 한 번 교환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4572000" cy="3108960"/>
          </a:xfrm>
          <a:prstGeom prst="rect">
            <a:avLst/>
          </a:prstGeom>
          <a:solidFill>
            <a:srgbClr val="F3F5F9"/>
          </a:solidFill>
          <a:ln w="9525">
            <a:solidFill>
              <a:srgbClr val="D9DCE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66928" y="1280160"/>
            <a:ext cx="4352544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C22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selection(a):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C22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i in range(len(a)-1):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C22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m = i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C22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for j in range(i+1, len(a)):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C22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if a[j] &lt; a[m]: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C22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m = j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C22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a[i], a[m] = a[m], a[i]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C22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a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303520" y="1280160"/>
            <a:ext cx="338328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C223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 자리에 들어갈 값을 남은 구간의 최솟값으로 정합니다.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C223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교환은 한 바퀴에 한 번, 전체 최대 n-1번입니다.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C223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비교는 항상 n(n-1)/2번이라 최선도 O(n²)입니다.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C223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교환 비용이 비싼 저장장치에 유리하지만 안정 정렬은 아닙니다.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삽입 정렬: 카드를 끼워 넣기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4572000" cy="3291840"/>
          </a:xfrm>
          <a:prstGeom prst="rect">
            <a:avLst/>
          </a:prstGeom>
          <a:solidFill>
            <a:srgbClr val="F3F5F9"/>
          </a:solidFill>
          <a:ln w="9525">
            <a:solidFill>
              <a:srgbClr val="D9DCE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66928" y="1280160"/>
            <a:ext cx="4352544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C22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insertion(a):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C22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i in range(1, len(a)):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C22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key = a[i]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C22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j = i - 1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C22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while j &gt;= 0 and a[j] &gt; key: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C22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a[j+1] = a[j]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C22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j -= 1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C22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a[j+1] = key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C22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a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303520" y="1280160"/>
            <a:ext cx="338328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C223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key를 꺼내 앞의 정렬된 부분에서 알맞은 자리를 찾습니다.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C223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key보다 큰 값은 오른쪽으로 한 칸씩 밀어냅니다.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C223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거의 정렬된 입력이면 밀 일이 적어 최선 O(n)입니다.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C223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같은 값은 밀지 않으므로 안정 정렬입니다.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병합 정렬: 나누고 합치기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4937760" cy="3566160"/>
          </a:xfrm>
          <a:prstGeom prst="rect">
            <a:avLst/>
          </a:prstGeom>
          <a:solidFill>
            <a:srgbClr val="F3F5F9"/>
          </a:solidFill>
          <a:ln w="9525">
            <a:solidFill>
              <a:srgbClr val="D9DCE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66928" y="1280160"/>
            <a:ext cx="4718304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C22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merge_sort(a):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C22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len(a) &lt;= 1: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C22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a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C22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 = len(a) // 2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C22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left = merge_sort(a[:m])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C22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right = merge_sort(a[m:])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C22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out, i, j = [], 0, 0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C22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while i &lt; len(left) and j &lt; len(right):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C22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left[i] &lt;= right[j]: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C22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out.append(left[i]); i += 1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C22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else: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C22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out.append(right[j]); j += 1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C22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out + left[i:] + right[j:]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577840" y="1280160"/>
            <a:ext cx="310896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C223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길이 1이 될 때까지 반으로 나눕니다 (m = len // 2).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C223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두 정렬된 구간을 앞에서부터 비교해 합칩니다.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C223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&lt;= 를 쓰면 같은 값에서 왼쪽을 먼저 골라 안정 정렬입니다.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C223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항상 O(n log n). 대신 추가 공간이 필요합니다.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퀵 정렬: 피벗 기준으로 나누기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4754880" cy="3108960"/>
          </a:xfrm>
          <a:prstGeom prst="rect">
            <a:avLst/>
          </a:prstGeom>
          <a:solidFill>
            <a:srgbClr val="F3F5F9"/>
          </a:solidFill>
          <a:ln w="9525">
            <a:solidFill>
              <a:srgbClr val="D9DCE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66928" y="1280160"/>
            <a:ext cx="4535424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C22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quick_sort(a):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C22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len(a) &lt;= 1: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C22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a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C22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pivot = a[len(a)//2]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C22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left = [x for x in a if x &lt; pivot]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C22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mid = [x for x in a if x == pivot]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C22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right = [x for x in a if x &gt; pivot]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C22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quick_sort(left) + mid + quick_sort(right)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0" y="1280160"/>
            <a:ext cx="320040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C223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피벗보다 작은 값, 같은 값, 큰 값으로 나눕니다.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C223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 버전은 새 리스트를 만들어 쉽게 읽히지만 공간을 씁니다.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C223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교과서 제자리 버전은 교환으로 나눕니다 (추가 공간 없음).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C223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피벗이 매번 최솟값이나 최댓값이면 분할이 한쪽으로 쏠려 최악 O(n²)입니다.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힙 정렬: 최대 힙으로 꺼내기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5120640" cy="3931920"/>
          </a:xfrm>
          <a:prstGeom prst="rect">
            <a:avLst/>
          </a:prstGeom>
          <a:solidFill>
            <a:srgbClr val="F3F5F9"/>
          </a:solidFill>
          <a:ln w="9525">
            <a:solidFill>
              <a:srgbClr val="D9DCE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66928" y="1188720"/>
            <a:ext cx="4901184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C22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heap_sort(a):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C22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 = len(a)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C22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i in range(n//2 - 1, -1, -1):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C22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sift_down(a, i, n)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C22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end in range(n-1, 0, -1):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C22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a[0], a[end] = a[end], a[0]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C22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sift_down(a, 0, end)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C22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C22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sift_down(a, i, size):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C22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while 2*i + 1 &lt; size: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C22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 = 2*i + 1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C22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c + 1 &lt; size and a[c+1] &gt; a[c]: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C22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c += 1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C22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a[i] &gt;= a[c]: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C22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break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C22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a[i], a[c] = a[c], a[i]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C22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 = c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760720" y="1280160"/>
            <a:ext cx="292608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C223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최대 힙: 부모 ≥ 자식. 루트가 최댓값입니다.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C223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루트를 끝과 교환한 뒤 힙을 다시 복구합니다.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C223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항상 O(n log n)이지만 안정 정렬은 아닙니다.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기수 정렬: 자릿수별로 나누기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47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비교가 아니라 자릿수로 분배합니다 (LSD: 일의 자리부터)</a:t>
            </a:r>
            <a:endParaRPr lang="en-US" sz="13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685800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2011680"/>
                <a:gridCol w="49377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단계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기준 자릿수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버킷 결과 (앞 → 뒤)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223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입력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223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-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223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[21, 13, 12, 23]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223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1회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223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일의 자리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223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[21, 12, 13, 23]  (1: 21 / 2: 12 / 3: 13, 23)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223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2회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223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십의 자리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223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[12, 13, 21, 23]  (1: 12, 13 / 2: 21, 23)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457200" y="3291840"/>
            <a:ext cx="8229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C223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각 단계는 안정적으로 나눠 담기 때문에 앞 단계의 순서가 유지됩니다.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C223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자릿수 d번, 기수 k(예: 10), 원소 n개이면 O(d(n+k))입니다.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C223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음수와 소수에는 그대로 쓸 수 없습니다 (처리 방법을 따로 정해야 함).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정렬 알고리즘 비교표</a:t>
            </a:r>
            <a:endParaRPr lang="en-US" sz="26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685800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1463040"/>
                <a:gridCol w="1463040"/>
                <a:gridCol w="1463040"/>
                <a:gridCol w="731520"/>
                <a:gridCol w="7315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정렬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최선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평균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최악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제자리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안정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23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버블 (조기 종료)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23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O(n)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23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O(n²)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23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O(n²)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23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예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23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예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23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선택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23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O(n²)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23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O(n²)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23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O(n²)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23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예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23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아니오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23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삽입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23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O(n)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23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O(n²)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23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O(n²)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23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예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23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예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23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퀵 (교과서)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23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O(n log n)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23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O(n log n)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23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O(n²)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23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예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23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아니오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23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병합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23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O(n log n)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23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O(n log n)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23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O(n log n)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23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아니오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23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예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23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힙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23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O(n log n)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23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O(n log n)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23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O(n log n)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23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예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23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아니오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23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기수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23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O(d(n+k))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23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O(d(n+k))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23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O(d(n+k))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23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아니오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23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예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57200" y="4434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퀵 정렬의 제자리 여부는 구현에 따라 다릅니다. 위 코드(리스트 버전)는 새 리스트를 쓰므로 제자리가 아닙니다.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상황별 선택 기준</a:t>
            </a:r>
            <a:endParaRPr lang="en-US" sz="26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6858000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2377440"/>
                <a:gridCol w="29260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상황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추천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이유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223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거의 정렬된 작은 목록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223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삽입 정렬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223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밀어야 할 값이 적어 빠름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223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교환 횟수를 줄여야 함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223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선택 정렬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223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교환은 최대 n-1번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223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최악 시간 보장이 필요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223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힙 또는 병합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223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항상 O(n log n)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223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같은 키의 순서를 지켜야 함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223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병합 (또는 삽입, 버블)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223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안정 정렬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223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일반적인 대량 데이터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223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퀵 (구현 잘 된 것)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223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평균이 빠르고 메모리 사용이 적음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223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자릿수가 정해진 정수가 많음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223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기수 정렬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223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비교 없이 자릿수로 분배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학생 발표에서 정정할 내용 (정렬)</a:t>
            </a:r>
            <a:endParaRPr lang="en-US" sz="26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6858000" cy="914400"/>
        </p:xfrm>
        <a:graphic>
          <a:graphicData uri="http://schemas.openxmlformats.org/drawingml/2006/table">
            <a:tbl>
              <a:tblPr/>
              <a:tblGrid>
                <a:gridCol w="4206240"/>
                <a:gridCol w="40233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내용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수업에서 할 일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223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삽입 정렬 추적의 슬라이드 라벨이 맞지 않음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223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key와 j의 변화를 한 단계씩 확인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223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병합 정렬 중간값 계산 오류 (2//2 → 3//2 = 1)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223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m = len//2를 직접 계산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223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기수 정렬 "12 13 21 23"이 1회 결과로 잘못 표시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223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[21, 13, 12, 23]의 두 단계로 확인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223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정렬 코드가 없음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223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코드를 한 줄씩 읽고 추적과 연결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223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복잡도 설명이 일반론에 머묾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223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복잡도 표와 상황별 선택 기준 사용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확인 문제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88720"/>
            <a:ext cx="82296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C223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1. 거의 정렬된 작은 목록에 가장 잘 맞는 정렬은?  (가) 삽입 정렬  (나) 퀵 정렬  (다) 기수 정렬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C223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2. 선택 정렬이 적합한 상황은?  (가) 교환 비용이 비싼 경우  (나) 거의 정렬된 목록  (다) 같은 키의 순서를 반드시 지켜야 할 때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C223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3. 퀵 정렬의 최악 O(n²)이 생기는 이유는?  (가) 피벗이 항상 가운데 값이기 때문  (나) 한쪽으로 쏠린 분할이 반복되기 때문  (다) 병합이 필요하기 때문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C223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4. 병합 정렬이 안정 정렬인 이유는?  (가) 제자리에서 정렬하기 때문  (나) 같으면 왼쪽을 먼저 고르기 때문  (다) 힙을 쓰기 때문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정답과 근거</a:t>
            </a:r>
            <a:endParaRPr lang="en-US" sz="26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6858000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2194560"/>
                <a:gridCol w="52120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번호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정답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근거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223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223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(가) 삽입 정렬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223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정렬된 앞부분에 끼워 넣어 이동이 적음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223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2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223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(가)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223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교환은 한 바퀴에 한 번, 최대 n-1번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223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3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223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(나)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223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분할이 한쪽으로 치우치면 재귀 깊이가 n에 가까워짐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223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4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223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(나)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223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left[i] ≤ right[j]이면 왼쪽을 먼저 골라 상대 순서 유지</a:t>
                      </a:r>
                      <a:endParaRPr lang="en-US" sz="13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정리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4023360" cy="1737360"/>
          </a:xfrm>
          <a:prstGeom prst="roundRect">
            <a:avLst>
              <a:gd name="adj" fmla="val 4211"/>
            </a:avLst>
          </a:prstGeom>
          <a:solidFill>
            <a:srgbClr val="EEF2FA"/>
          </a:solidFill>
          <a:ln w="12700">
            <a:solidFill>
              <a:srgbClr val="EEF2F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3258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기본 정렬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737360"/>
            <a:ext cx="3657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23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버블·선택·삽입은 평균 O(n²). 삽입은 거의 정렬된 입력에서 최선 O(n)입니다.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663440" y="1188720"/>
            <a:ext cx="4023360" cy="1737360"/>
          </a:xfrm>
          <a:prstGeom prst="roundRect">
            <a:avLst>
              <a:gd name="adj" fmla="val 4211"/>
            </a:avLst>
          </a:prstGeom>
          <a:solidFill>
            <a:srgbClr val="EEF2FA"/>
          </a:solidFill>
          <a:ln w="12700">
            <a:solidFill>
              <a:srgbClr val="EEF2F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846320" y="13258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고급 정렬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4846320" y="1737360"/>
            <a:ext cx="3657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23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병합·힙은 항상 O(n log n). 퀵은 평균이 빠르지만 최악 O(n²). 안정성과 제자리 여부를 함께 기억하세요.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3108960"/>
            <a:ext cx="8229600" cy="1463040"/>
          </a:xfrm>
          <a:prstGeom prst="roundRect">
            <a:avLst>
              <a:gd name="adj" fmla="val 5000"/>
            </a:avLst>
          </a:prstGeom>
          <a:solidFill>
            <a:srgbClr val="E3F3F5"/>
          </a:solidFill>
          <a:ln w="12700">
            <a:solidFill>
              <a:srgbClr val="E3F3F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" y="324612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809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다음 준비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3657600"/>
            <a:ext cx="7863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23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같은 입력으로 버블과 삽입을 손으로 돌려 보고, 교환 횟수와 이동 횟수를 비교해 보세요.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정렬">
  <a:themeElements>
    <a:clrScheme name="정렬">
      <a:dk1>
        <a:srgbClr val="1C2230"/>
      </a:dk1>
      <a:lt1>
        <a:srgbClr val="FFFFFF"/>
      </a:lt1>
      <a:dk2>
        <a:srgbClr val="1E2761"/>
      </a:dk2>
      <a:lt2>
        <a:srgbClr val="EEF2FA"/>
      </a:lt2>
      <a:accent1>
        <a:srgbClr val="1E2761"/>
      </a:accent1>
      <a:accent2>
        <a:srgbClr val="E0572F"/>
      </a:accent2>
      <a:accent3>
        <a:srgbClr val="028090"/>
      </a:accent3>
      <a:accent4>
        <a:srgbClr val="5B6476"/>
      </a:accent4>
      <a:accent5>
        <a:srgbClr val="7A8BB8"/>
      </a:accent5>
      <a:accent6>
        <a:srgbClr val="C9A227"/>
      </a:accent6>
      <a:hlink>
        <a:srgbClr val="2D5BD1"/>
      </a:hlink>
      <a:folHlink>
        <a:srgbClr val="6B4FA0"/>
      </a:folHlink>
    </a:clrScheme>
    <a:fontScheme name="정렬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정렬</dc:title>
  <dc:subject>PptxGenJS Presentation</dc:subject>
  <dc:creator>PptxGenJS</dc:creator>
  <cp:lastModifiedBy>PptxGenJS</cp:lastModifiedBy>
  <cp:revision>1</cp:revision>
  <dcterms:created xsi:type="dcterms:W3CDTF">2026-10-26T08:02:07Z</dcterms:created>
  <dcterms:modified xsi:type="dcterms:W3CDTF">2026-10-26T08:02:07Z</dcterms:modified>
</cp:coreProperties>
</file>